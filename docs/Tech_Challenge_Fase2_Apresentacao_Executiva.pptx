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67512"/>
            <a:ext cx="2011680" cy="73152"/>
          </a:xfrm>
          <a:prstGeom prst="rect">
            <a:avLst/>
          </a:prstGeom>
          <a:solidFill>
            <a:srgbClr val="D0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AF9F7"/>
                </a:solidFill>
                <a:latin typeface="Aptos"/>
              </a:defRPr>
            </a:pPr>
            <a:r>
              <a:t>TECH CHALLENGE  |  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7899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200" b="1">
                <a:solidFill>
                  <a:srgbClr val="FAF9F7"/>
                </a:solidFill>
                <a:latin typeface="Aptos"/>
              </a:defRPr>
            </a:pPr>
            <a:r>
              <a:t>Crédito com dados:</a:t>
            </a:r>
          </a:p>
          <a:p>
            <a:pPr>
              <a:spcAft>
                <a:spcPts val="500"/>
              </a:spcAft>
              <a:defRPr sz="4200" b="1">
                <a:solidFill>
                  <a:srgbClr val="FAF9F7"/>
                </a:solidFill>
                <a:latin typeface="Aptos"/>
              </a:defRPr>
            </a:pPr>
            <a:r>
              <a:t>do diagnóstico à decisão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94760"/>
            <a:ext cx="9966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DAD8D7"/>
                </a:solidFill>
                <a:latin typeface="Aptos"/>
              </a:defRPr>
            </a:pPr>
            <a:r>
              <a:t>Avaliação de modelos para identificar padrões associados a atrasos de 60 dias ou mais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992624"/>
            <a:ext cx="10835640" cy="22860"/>
          </a:xfrm>
          <a:prstGeom prst="rect">
            <a:avLst/>
          </a:prstGeom>
          <a:solidFill>
            <a:srgbClr val="D0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330952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AF9F7"/>
                </a:solidFill>
                <a:latin typeface="Aptos"/>
              </a:defRPr>
            </a:pPr>
            <a:r>
              <a:t>Denise Figueira  •  Luana Souza de Oliveira</a:t>
            </a:r>
          </a:p>
          <a:p>
            <a:pPr>
              <a:spcAft>
                <a:spcPts val="500"/>
              </a:spcAft>
              <a:defRPr sz="1400" b="0">
                <a:solidFill>
                  <a:srgbClr val="FAF9F7"/>
                </a:solidFill>
                <a:latin typeface="Aptos"/>
              </a:defRPr>
            </a:pPr>
            <a:r>
              <a:t>Possidonio Pereira da Fonseca Neto  •  Sheila da Silva Conceição Feitosa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AAAAA"/>
                </a:solidFill>
                <a:latin typeface="Aptos"/>
              </a:defRPr>
            </a:pPr>
            <a:r>
              <a:t>APRESENTAÇÃO EXECUTIVA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D0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D02A36"/>
                </a:solidFill>
                <a:latin typeface="Aptos"/>
              </a:defRPr>
            </a:pPr>
            <a:r>
              <a:t>TECH CHALLENGE  |  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31417"/>
                </a:solidFill>
                <a:latin typeface="Aptos"/>
              </a:defRPr>
            </a:pPr>
            <a:r>
              <a:t>O desafio está na raridade dos eventos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DBD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B6F76"/>
                </a:solidFill>
                <a:latin typeface="Aptos"/>
              </a:defRPr>
            </a:pPr>
            <a:r>
              <a:t>FIAP PÓS-TECH  •  ANÁLISE DE CRÉDITO                                      02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3657600" cy="3566160"/>
          </a:xfrm>
          <a:prstGeom prst="roundRect">
            <a:avLst/>
          </a:prstGeom>
          <a:solidFill>
            <a:srgbClr val="13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600" b="1">
                <a:solidFill>
                  <a:srgbClr val="FAF9F7"/>
                </a:solidFill>
                <a:latin typeface="Aptos"/>
              </a:defRPr>
            </a:pPr>
            <a:r>
              <a:t>36.457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07792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FAF9F7"/>
                </a:solidFill>
                <a:latin typeface="Aptos"/>
              </a:defRPr>
            </a:pPr>
            <a:r>
              <a:t>clientes na população principal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005072"/>
            <a:ext cx="2834640" cy="41148"/>
          </a:xfrm>
          <a:prstGeom prst="rect">
            <a:avLst/>
          </a:prstGeom>
          <a:solidFill>
            <a:srgbClr val="D0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79392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AF9F7"/>
                </a:solidFill>
                <a:latin typeface="Aptos"/>
              </a:defRPr>
            </a:pPr>
            <a:r>
              <a:t>Histórico disponível com períodos de observação diferentes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664208"/>
            <a:ext cx="6995160" cy="3520440"/>
          </a:xfrm>
          <a:prstGeom prst="round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965960"/>
            <a:ext cx="63550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31417"/>
                </a:solidFill>
                <a:latin typeface="Aptos"/>
              </a:defRPr>
            </a:pPr>
            <a:r>
              <a:t>Distribuição do evento de atraso ≥ 60 dias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01184" y="2743200"/>
            <a:ext cx="6263640" cy="429768"/>
          </a:xfrm>
          <a:prstGeom prst="roundRect">
            <a:avLst/>
          </a:prstGeom>
          <a:solidFill>
            <a:srgbClr val="E0E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01184" y="2743200"/>
            <a:ext cx="6158484" cy="429768"/>
          </a:xfrm>
          <a:prstGeom prst="roundRect">
            <a:avLst/>
          </a:prstGeom>
          <a:solidFill>
            <a:srgbClr val="35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059668" y="2743200"/>
            <a:ext cx="105156" cy="429768"/>
          </a:xfrm>
          <a:prstGeom prst="rect">
            <a:avLst/>
          </a:prstGeom>
          <a:solidFill>
            <a:srgbClr val="D0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01184" y="3429000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31417"/>
                </a:solidFill>
                <a:latin typeface="Aptos"/>
              </a:defRPr>
            </a:pPr>
            <a:r>
              <a:t>35.841 sem evento  •  98,31%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1184" y="3977639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D02A36"/>
                </a:solidFill>
                <a:latin typeface="Aptos"/>
              </a:defRPr>
            </a:pPr>
            <a:r>
              <a:t>616 com evento  •  1,69%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96128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B6F76"/>
                </a:solidFill>
                <a:latin typeface="Aptos"/>
              </a:defRPr>
            </a:pPr>
            <a:r>
              <a:t>TARGET = 1: pelo menos um registro com STATUS 2–5. TARGET = 0: nenhum registro dessa condição no histórico observado.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D0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D02A36"/>
                </a:solidFill>
                <a:latin typeface="Aptos"/>
              </a:defRPr>
            </a:pPr>
            <a:r>
              <a:t>TECH CHALLENGE  |  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31417"/>
                </a:solidFill>
                <a:latin typeface="Aptos"/>
              </a:defRPr>
            </a:pPr>
            <a:r>
              <a:t>Quatro algoritmos, uma avaliação mais rigorosa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DBD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B6F76"/>
                </a:solidFill>
                <a:latin typeface="Aptos"/>
              </a:defRPr>
            </a:pPr>
            <a:r>
              <a:t>FIAP PÓS-TECH  •  ANÁLISE DE CRÉDITO                                      03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773936"/>
            <a:ext cx="2679192" cy="1993392"/>
          </a:xfrm>
          <a:prstGeom prst="roundRect">
            <a:avLst/>
          </a:prstGeom>
          <a:solidFill>
            <a:srgbClr val="13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97510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D02A3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450592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AF9F7"/>
                </a:solidFill>
                <a:latin typeface="Aptos"/>
              </a:defRPr>
            </a:pPr>
            <a:r>
              <a:t>Regressão</a:t>
            </a:r>
          </a:p>
          <a:p>
            <a:pPr>
              <a:spcAft>
                <a:spcPts val="500"/>
              </a:spcAft>
              <a:defRPr sz="2300" b="1">
                <a:solidFill>
                  <a:srgbClr val="FAF9F7"/>
                </a:solidFill>
                <a:latin typeface="Aptos"/>
              </a:defRPr>
            </a:pPr>
            <a:r>
              <a:t>Logística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773936"/>
            <a:ext cx="2679192" cy="1993392"/>
          </a:xfrm>
          <a:prstGeom prst="round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197510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D02A3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450592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31417"/>
                </a:solidFill>
                <a:latin typeface="Aptos"/>
              </a:defRPr>
            </a:pPr>
            <a:r>
              <a:t>Árvore de</a:t>
            </a:r>
          </a:p>
          <a:p>
            <a:pPr>
              <a:spcAft>
                <a:spcPts val="500"/>
              </a:spcAft>
              <a:defRPr sz="2300" b="1">
                <a:solidFill>
                  <a:srgbClr val="131417"/>
                </a:solidFill>
                <a:latin typeface="Aptos"/>
              </a:defRPr>
            </a:pPr>
            <a:r>
              <a:t>Decisão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28232" y="1773936"/>
            <a:ext cx="2679192" cy="1993392"/>
          </a:xfrm>
          <a:prstGeom prst="round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97510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D02A3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450592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31417"/>
                </a:solidFill>
                <a:latin typeface="Aptos"/>
              </a:defRPr>
            </a:pPr>
            <a:r>
              <a:t>Random</a:t>
            </a:r>
          </a:p>
          <a:p>
            <a:pPr>
              <a:spcAft>
                <a:spcPts val="500"/>
              </a:spcAft>
              <a:defRPr sz="2300" b="1">
                <a:solidFill>
                  <a:srgbClr val="131417"/>
                </a:solidFill>
                <a:latin typeface="Aptos"/>
              </a:defRPr>
            </a:pPr>
            <a:r>
              <a:t>Forest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6024" y="1773936"/>
            <a:ext cx="2679192" cy="1993392"/>
          </a:xfrm>
          <a:prstGeom prst="round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37192" y="197510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D02A3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7192" y="2450592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31417"/>
                </a:solidFill>
                <a:latin typeface="Aptos"/>
              </a:defRPr>
            </a:pPr>
            <a:r>
              <a:t>Gradient</a:t>
            </a:r>
          </a:p>
          <a:p>
            <a:pPr>
              <a:spcAft>
                <a:spcPts val="500"/>
              </a:spcAft>
              <a:defRPr sz="2300" b="1">
                <a:solidFill>
                  <a:srgbClr val="131417"/>
                </a:solidFill>
                <a:latin typeface="Aptos"/>
              </a:defRPr>
            </a:pPr>
            <a:r>
              <a:t>Boosting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4169663"/>
            <a:ext cx="10945368" cy="1280160"/>
          </a:xfrm>
          <a:prstGeom prst="roundRect">
            <a:avLst/>
          </a:prstGeom>
          <a:solidFill>
            <a:srgbClr val="ED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" y="4169663"/>
            <a:ext cx="73152" cy="1280160"/>
          </a:xfrm>
          <a:prstGeom prst="rect">
            <a:avLst/>
          </a:prstGeom>
          <a:solidFill>
            <a:srgbClr val="D0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37997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31417"/>
                </a:solidFill>
                <a:latin typeface="Aptos"/>
              </a:defRPr>
            </a:pPr>
            <a:r>
              <a:t>Ponto crítico de validação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75488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D2F33"/>
                </a:solidFill>
                <a:latin typeface="Aptos"/>
              </a:defRPr>
            </a:pPr>
            <a:r>
              <a:t>Perfis cadastrais idênticos exigiram separação por grupos para reduzir avaliações excessivamente otimistas.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15000"/>
            <a:ext cx="108813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B6F76"/>
                </a:solidFill>
                <a:latin typeface="Aptos"/>
              </a:defRPr>
            </a:pPr>
            <a:r>
              <a:t>Na comparação por grupos, a regressão logística obteve a maior Average Precision média; modelos mais complexos não foram superiores.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D0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D02A36"/>
                </a:solidFill>
                <a:latin typeface="Aptos"/>
              </a:defRPr>
            </a:pPr>
            <a:r>
              <a:t>TECH CHALLENGE  |  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31417"/>
                </a:solidFill>
                <a:latin typeface="Aptos"/>
              </a:defRPr>
            </a:pPr>
            <a:r>
              <a:t>O modelo encontra sinais, mas ainda perde muitos casos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DBD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B6F76"/>
                </a:solidFill>
                <a:latin typeface="Aptos"/>
              </a:defRPr>
            </a:pPr>
            <a:r>
              <a:t>FIAP PÓS-TECH  •  ANÁLISE DE CRÉDITO                                      04 /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4630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B6F76"/>
                </a:solidFill>
                <a:latin typeface="Aptos"/>
              </a:defRPr>
            </a:pPr>
            <a:r>
              <a:t>Análise complementar: clientes com 12 meses de histórico observados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984248"/>
            <a:ext cx="3639312" cy="1572768"/>
          </a:xfrm>
          <a:prstGeom prst="roundRect">
            <a:avLst/>
          </a:prstGeom>
          <a:solidFill>
            <a:srgbClr val="13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221992"/>
            <a:ext cx="320040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FAF9F7"/>
                </a:solidFill>
                <a:latin typeface="Aptos"/>
              </a:defRPr>
            </a:pPr>
            <a:r>
              <a:t>0,6529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96265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DCDCDC"/>
                </a:solidFill>
                <a:latin typeface="Aptos"/>
              </a:defRPr>
            </a:pPr>
            <a:r>
              <a:t>ROC AUC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1984248"/>
            <a:ext cx="3639312" cy="1572768"/>
          </a:xfrm>
          <a:prstGeom prst="round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2221992"/>
            <a:ext cx="320040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131417"/>
                </a:solidFill>
                <a:latin typeface="Aptos"/>
              </a:defRPr>
            </a:pPr>
            <a:r>
              <a:t>0,0859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96265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B6F76"/>
                </a:solidFill>
                <a:latin typeface="Aptos"/>
              </a:defRPr>
            </a:pPr>
            <a:r>
              <a:t>Average Precision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94192" y="1984248"/>
            <a:ext cx="3639312" cy="1572768"/>
          </a:xfrm>
          <a:prstGeom prst="round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22792" y="2221992"/>
            <a:ext cx="320040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131417"/>
                </a:solidFill>
                <a:latin typeface="Aptos"/>
              </a:defRPr>
            </a:pPr>
            <a:r>
              <a:t>11,11%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792" y="296265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B6F76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977639"/>
            <a:ext cx="10954512" cy="1353312"/>
          </a:xfrm>
          <a:prstGeom prst="round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178808"/>
            <a:ext cx="29260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D02A36"/>
                </a:solidFill>
                <a:latin typeface="Aptos"/>
              </a:defRPr>
            </a:pPr>
            <a:r>
              <a:t>3 de 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325112"/>
            <a:ext cx="7498079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31417"/>
                </a:solidFill>
                <a:latin typeface="Aptos"/>
              </a:defRPr>
            </a:pPr>
            <a:r>
              <a:t>eventos positivos identificados no teste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562356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D2F33"/>
                </a:solidFill>
                <a:latin typeface="Aptos"/>
              </a:defRPr>
            </a:pPr>
            <a:r>
              <a:t>Limiar 0,05  •  11 falsos positivos  •  24 falsos negativos  •  3.421 verdadeiros negativos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6099048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B6F76"/>
                </a:solidFill>
                <a:latin typeface="Aptos"/>
              </a:defRPr>
            </a:pPr>
            <a:r>
              <a:t>Resultados exploratórios retrospectivos; não demonstram previsão prospectiva de inadimplência.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D0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D02A36"/>
                </a:solidFill>
                <a:latin typeface="Aptos"/>
              </a:defRPr>
            </a:pPr>
            <a:r>
              <a:t>TECH CHALLENGE  |  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31417"/>
                </a:solidFill>
                <a:latin typeface="Aptos"/>
              </a:defRPr>
            </a:pPr>
            <a:r>
              <a:t>Recomendação: evoluir os dados antes de implantar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DBD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47104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B6F76"/>
                </a:solidFill>
                <a:latin typeface="Aptos"/>
              </a:defRPr>
            </a:pPr>
            <a:r>
              <a:t>FIAP PÓS-TECH  •  ANÁLISE DE CRÉDITO                                      05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10881360" cy="960120"/>
          </a:xfrm>
          <a:prstGeom prst="roundRect">
            <a:avLst/>
          </a:prstGeom>
          <a:solidFill>
            <a:srgbClr val="13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2024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AF9F7"/>
                </a:solidFill>
                <a:latin typeface="Aptos"/>
              </a:defRPr>
            </a:pPr>
            <a:r>
              <a:t>NÃO RECOMENDAMOS IMPLANTAÇÃO AUTOMÁTICA NESTE ESTÁGIO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2971800"/>
            <a:ext cx="3538728" cy="2103120"/>
          </a:xfrm>
          <a:prstGeom prst="round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191256"/>
            <a:ext cx="502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300" b="1">
                <a:solidFill>
                  <a:srgbClr val="D02A3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32186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31417"/>
                </a:solidFill>
                <a:latin typeface="Aptos"/>
              </a:defRPr>
            </a:pPr>
            <a:r>
              <a:t>Organizar a linha do tempo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4114800"/>
            <a:ext cx="305409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D2F33"/>
                </a:solidFill>
                <a:latin typeface="Aptos"/>
              </a:defRPr>
            </a:pPr>
            <a:r>
              <a:t>Cadastro datado e corte anterior ao evento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1416" y="2971800"/>
            <a:ext cx="3538728" cy="2103120"/>
          </a:xfrm>
          <a:prstGeom prst="round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3191256"/>
            <a:ext cx="502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300" b="1">
                <a:solidFill>
                  <a:srgbClr val="D02A3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9512" y="32186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31417"/>
                </a:solidFill>
                <a:latin typeface="Aptos"/>
              </a:defRPr>
            </a:pPr>
            <a:r>
              <a:t>Validar em novos clientes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304" y="4114800"/>
            <a:ext cx="305409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D2F33"/>
                </a:solidFill>
                <a:latin typeface="Aptos"/>
              </a:defRPr>
            </a:pPr>
            <a:r>
              <a:t>Teste prospectivo e amostra independente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6" y="2971800"/>
            <a:ext cx="3538728" cy="2103120"/>
          </a:xfrm>
          <a:prstGeom prst="round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3191256"/>
            <a:ext cx="502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300" b="1">
                <a:solidFill>
                  <a:srgbClr val="D02A3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4272" y="32186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31417"/>
                </a:solidFill>
                <a:latin typeface="Aptos"/>
              </a:defRPr>
            </a:pPr>
            <a:r>
              <a:t>Medir impacto de negócio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114800"/>
            <a:ext cx="305409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D2F33"/>
                </a:solidFill>
                <a:latin typeface="Aptos"/>
              </a:defRPr>
            </a:pPr>
            <a:r>
              <a:t>Custos de falsos positivos e falsos negativos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541264"/>
            <a:ext cx="1069848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31417"/>
                </a:solidFill>
                <a:latin typeface="Aptos"/>
              </a:defRPr>
            </a:pPr>
            <a:r>
              <a:t>Decisão responsável: o projeto entrega um diagnóstico de viabilidade e um caminho para construir uma solução mais confiável.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